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c8d71e5be94e72" /><Relationship Type="http://schemas.openxmlformats.org/officeDocument/2006/relationships/extended-properties" Target="/docProps/app.xml" Id="R4561182bd17648a9" /><Relationship Type="http://schemas.openxmlformats.org/officeDocument/2006/relationships/officeDocument" Target="/ppt/presentation.xml" Id="R68bcfed9115f49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3bd28226974d21"/>
  </p:sldMasterIdLst>
  <p:notesMasterIdLst>
    <p:notesMasterId xmlns:r="http://schemas.openxmlformats.org/officeDocument/2006/relationships" r:id="R1a22fde77ddc4359"/>
  </p:notesMasterIdLst>
  <p:sldIdLst>
    <p:sldId xmlns:r="http://schemas.openxmlformats.org/officeDocument/2006/relationships" id="256" r:id="R87ef4927cd6a4efc"/>
  </p:sldIdLst>
  <p:sldSz cx="15120000" cy="10692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15edd4b86c4349" /><Relationship Type="http://schemas.openxmlformats.org/officeDocument/2006/relationships/slideMaster" Target="/ppt/slideMasters/slideMaster1.xml" Id="Rd73bd28226974d21" /><Relationship Type="http://schemas.openxmlformats.org/officeDocument/2006/relationships/notesMaster" Target="/ppt/notesMasters/notesMaster1.xml" Id="R1a22fde77ddc4359" /><Relationship Type="http://schemas.openxmlformats.org/officeDocument/2006/relationships/presProps" Target="/ppt/presProps.xml" Id="R7efb3bff27954990" /><Relationship Type="http://schemas.openxmlformats.org/officeDocument/2006/relationships/tableStyles" Target="/ppt/tableStyles.xml" Id="R9f7e25d5ddf74f1e" /><Relationship Type="http://schemas.openxmlformats.org/officeDocument/2006/relationships/slide" Target="/ppt/slides/slide1.xml" Id="R87ef4927cd6a4e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ac84ec03bd46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07bd2fb47d4d13" /><Relationship Type="http://schemas.openxmlformats.org/officeDocument/2006/relationships/notesMaster" Target="/ppt/notesMasters/notesMaster1.xml" Id="R9f1c3ae5bbb843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final 22-case nominal concrete stress-cycle screening and peak-range coverage summary, October 2026. The displayed 40 m reference-spacing cases use a matched passage-duration comparison. Rm is the ratio of case-wise maximum fixed-probe cumulative indices to the two-lane reference. The numerator and denominator may control at different locations. Minimum longitudinal/transverse peak-range coverage across all selected cases is 0.9553191368105968. The nominal stress screening uses uncracked gross-section recovery, separate from the section-recovery implementation checks. Professor Kai-Chun Chang provided the bridge drawings and reference materials. No private framework source code, source drawings or raw results are embedded.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dda82bf1e34a4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a8b03a576b4b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ddabe4c79e491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96191ff6b84f1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ca25faac744c0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b0835c60654f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590B10-ADA0-487B-AFF4-4424707E4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2180A7E-3252-4AAE-A9AE-BFC1170E4FE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1A3F36B-A2AD-48E8-9BCF-EF5D28CB0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DAFC08-BEFC-427F-9A31-F84D0433B8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6BF6392-EACF-4F52-A598-53228ACC91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2D1A375-5892-47E8-9DB4-07D8BA7DE1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54DAC13-07C8-4FED-BB38-7752465216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145B365-337B-4903-B8D5-E2754725C4A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4FD6F57-18D8-4740-A6F0-18A5722514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5DDEB5-6938-432F-8427-BB96744229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2dda3be3b54ff0" /><Relationship Type="http://schemas.openxmlformats.org/officeDocument/2006/relationships/slideLayout" Target="/ppt/slideLayouts/slideLayout1.xml" Id="Rcbdbd256160d4b3e" /><Relationship Type="http://schemas.openxmlformats.org/officeDocument/2006/relationships/slideLayout" Target="/ppt/slideLayouts/slideLayout2.xml" Id="Rcb032af800a743e0" /><Relationship Type="http://schemas.openxmlformats.org/officeDocument/2006/relationships/slideLayout" Target="/ppt/slideLayouts/slideLayout3.xml" Id="R9d1d5501723c4fde" /><Relationship Type="http://schemas.openxmlformats.org/officeDocument/2006/relationships/slideLayout" Target="/ppt/slideLayouts/slideLayout4.xml" Id="Rc4b19b37a7da4cda" /><Relationship Type="http://schemas.openxmlformats.org/officeDocument/2006/relationships/slideLayout" Target="/ppt/slideLayouts/slideLayout5.xml" Id="R0c34d17cd89b4c11" /><Relationship Type="http://schemas.openxmlformats.org/officeDocument/2006/relationships/slideLayout" Target="/ppt/slideLayouts/slideLayout6.xml" Id="R208547592d414d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dbd256160d4b3e"/>
    <p:sldLayoutId xmlns:r="http://schemas.openxmlformats.org/officeDocument/2006/relationships" id="2147483650" r:id="Rcb032af800a743e0"/>
    <p:sldLayoutId xmlns:r="http://schemas.openxmlformats.org/officeDocument/2006/relationships" id="2147483651" r:id="R9d1d5501723c4fde"/>
    <p:sldLayoutId xmlns:r="http://schemas.openxmlformats.org/officeDocument/2006/relationships" id="2147483652" r:id="Rc4b19b37a7da4cda"/>
    <p:sldLayoutId xmlns:r="http://schemas.openxmlformats.org/officeDocument/2006/relationships" id="2147483653" r:id="R0c34d17cd89b4c11"/>
    <p:sldLayoutId xmlns:r="http://schemas.openxmlformats.org/officeDocument/2006/relationships" id="2147483654" r:id="R208547592d414d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88b9081df44c95" /><Relationship Type="http://schemas.openxmlformats.org/officeDocument/2006/relationships/chart" Target="/ppt/slides/charts/chart1.xml" Id="R7d7ec474c433430b" /><Relationship Type="http://schemas.openxmlformats.org/officeDocument/2006/relationships/notesSlide" Target="/ppt/notesSlides/notesSlide1.xml" Id="R8ad2f5490ed1462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R3</c:v>
          </c:tx>
          <c:spPr>
            <a:solidFill xmlns:a="http://schemas.openxmlformats.org/drawingml/2006/main">
              <a:srgbClr val="132B40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Two-lane</c:v>
                </c:pt>
                <c:pt idx="1">
                  <c:v>Sᵧ 0.05</c:v>
                </c:pt>
                <c:pt idx="2">
                  <c:v>Sᵧ 0.10</c:v>
                </c:pt>
                <c:pt idx="3">
                  <c:v>Sᵧ 0.15</c:v>
                </c:pt>
                <c:pt idx="4">
                  <c:v>Grouped</c:v>
                </c:pt>
              </c:strCache>
            </c:strRef>
          </c:cat>
          <c:val>
            <c:numRef>
              <c:f>'Chart Data'!$B$2:$B$6</c:f>
              <c:numCache>
                <c:formatCode>0</c:formatCode>
                <c:ptCount val="5"/>
                <c:pt idx="0">
                  <c:v>1</c:v>
                </c:pt>
                <c:pt idx="1">
                  <c:v>1.790525</c:v>
                </c:pt>
                <c:pt idx="2">
                  <c:v>1.077521</c:v>
                </c:pt>
                <c:pt idx="3">
                  <c:v>0.679234</c:v>
                </c:pt>
                <c:pt idx="4">
                  <c:v>1.664541</c:v>
                </c:pt>
              </c:numCache>
            </c:numRef>
          </c:val>
        </c:ser>
        <c:ser>
          <c:idx val="1"/>
          <c:order val="1"/>
          <c:tx>
            <c:v>R5</c:v>
          </c:tx>
          <c:spPr>
            <a:solidFill xmlns:a="http://schemas.openxmlformats.org/drawingml/2006/main">
              <a:srgbClr val="087F8C"/>
            </a:solidFill>
          </c:spPr>
          <c:invertIfNegative val="0"/>
          <c:cat>
            <c:strRef>
              <c:f>'Chart Data'!$C$2:$C$6</c:f>
              <c:strCache>
                <c:ptCount val="5"/>
                <c:pt idx="0">
                  <c:v>Two-lane</c:v>
                </c:pt>
                <c:pt idx="1">
                  <c:v>Sᵧ 0.05</c:v>
                </c:pt>
                <c:pt idx="2">
                  <c:v>Sᵧ 0.10</c:v>
                </c:pt>
                <c:pt idx="3">
                  <c:v>Sᵧ 0.15</c:v>
                </c:pt>
                <c:pt idx="4">
                  <c:v>Grouped</c:v>
                </c:pt>
              </c:strCache>
            </c:strRef>
          </c:cat>
          <c:val>
            <c:numRef>
              <c:f>'Chart Data'!$D$2:$D$6</c:f>
              <c:numCache>
                <c:formatCode>0</c:formatCode>
                <c:ptCount val="5"/>
                <c:pt idx="0">
                  <c:v>1</c:v>
                </c:pt>
                <c:pt idx="1">
                  <c:v>2.666752</c:v>
                </c:pt>
                <c:pt idx="2">
                  <c:v>1.54677</c:v>
                </c:pt>
                <c:pt idx="3">
                  <c:v>1.556537</c:v>
                </c:pt>
                <c:pt idx="4">
                  <c:v>4.228691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4374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0E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4374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E6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6B78"/>
                </a:solidFill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AFBFC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243746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AFBFC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C3730D5-A4CC-4A23-B39D-E1B78B74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319200"/>
            <a:ext cx="12180000" cy="28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323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STRUCTURAL DYNAMICS RESEARCH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2A77594-0079-48DA-B511-E9327839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714000"/>
            <a:ext cx="14112000" cy="6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defPPr>
            <a:lvl1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1pPr>
            <a:lvl2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2pPr>
            <a:lvl3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3pPr>
            <a:lvl4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4pPr>
            <a:lvl5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5pPr>
            <a:lvl6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6pPr>
            <a:lvl7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7pPr>
            <a:lvl8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8pPr>
            <a:lvl9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pPr>
            <a:r>
              <a:rPr sz="3439" b="1">
                <a:solidFill>
                  <a:srgbClr val="132B40"/>
                </a:solidFill>
                <a:latin typeface="Arial"/>
                <a:ea typeface="Arial"/>
                <a:cs typeface="Arial"/>
              </a:rPr>
              <a:t>Traffic Organization and Bridge Deck Response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45AE392-0D23-483F-A2A3-8EF30EC7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1369200"/>
            <a:ext cx="14112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defPPr>
            <a:lvl1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1pPr>
            <a:lvl2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2pPr>
            <a:lvl3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3pPr>
            <a:lvl4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4pPr>
            <a:lvl5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5pPr>
            <a:lvl6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6pPr>
            <a:lvl7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7pPr>
            <a:lvl8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8pPr>
            <a:lvl9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918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Traffic organization and nominal concrete stress cycles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80C1F312-C550-4CE0-8A9C-3A04D1D8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1764000"/>
            <a:ext cx="14112000" cy="41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defPPr>
            <a:lvl1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1pPr>
            <a:lvl2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2pPr>
            <a:lvl3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3pPr>
            <a:lvl4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4pPr>
            <a:lvl5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5pPr>
            <a:lvl6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6pPr>
            <a:lvl7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7pPr>
            <a:lvl8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8pPr>
            <a:lvl9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257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Wang Yanjun</a:t>
            </a:r>
          </a:p>
          <a:p xmlns:a="http://schemas.openxmlformats.org/drawingml/2006/main">
            <a: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257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Civil, Environmental and Resources Engineering, Faculty of Engineering, Kyoto University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2227B-237F-453E-AD56-3049E688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2217600"/>
            <a:ext cx="1411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7" name="question">
            <a:extLst xmlns:a="http://schemas.openxmlformats.org/drawingml/2006/main">
              <a:ext uri="{FF2B5EF4-FFF2-40B4-BE49-F238E27FC236}">
                <a16:creationId xmlns:a16="http://schemas.microsoft.com/office/drawing/2014/main" id="{F038F449-A70E-413B-A9B1-6128F9B3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2503200"/>
            <a:ext cx="4200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29837-FC1F-44A1-888F-8C7D96FA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2906400"/>
            <a:ext cx="4200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9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7FB0993F-0998-4A99-82BE-C42DA6FC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3040800"/>
            <a:ext cx="4200000" cy="12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654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How does traffic organization affect local deck stress-cycle demand when the vehicle fleet stays fixed?</a:t>
            </a:r>
          </a:p>
        </p:txBody>
      </p:sp>
      <p:sp>
        <p:nvSpPr>
          <p:cNvPr id="10" name="model">
            <a:extLst xmlns:a="http://schemas.openxmlformats.org/drawingml/2006/main">
              <a:ext uri="{FF2B5EF4-FFF2-40B4-BE49-F238E27FC236}">
                <a16:creationId xmlns:a16="http://schemas.microsoft.com/office/drawing/2014/main" id="{837A2ABA-7CE3-4853-8845-368D3DBA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4502400"/>
            <a:ext cx="4200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Computational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0401E2-A7A2-4F42-A523-A72C4265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4905600"/>
            <a:ext cx="4200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12" name="model-scale">
            <a:extLst xmlns:a="http://schemas.openxmlformats.org/drawingml/2006/main">
              <a:ext uri="{FF2B5EF4-FFF2-40B4-BE49-F238E27FC236}">
                <a16:creationId xmlns:a16="http://schemas.microsoft.com/office/drawing/2014/main" id="{2BE982BD-777B-4690-8B31-DFEADBD3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5056800"/>
            <a:ext cx="2184000" cy="5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defPPr>
            <a:lvl1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1pPr>
            <a:lvl2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2pPr>
            <a:lvl3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3pPr>
            <a:lvl4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4pPr>
            <a:lvl5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5pPr>
            <a:lvl6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6pPr>
            <a:lvl7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7pPr>
            <a:lvl8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8pPr>
            <a:lvl9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pPr>
            <a:r>
              <a:rPr sz="3506" b="1">
                <a:solidFill>
                  <a:srgbClr val="132B40"/>
                </a:solidFill>
                <a:latin typeface="Arial"/>
                <a:ea typeface="Arial"/>
                <a:cs typeface="Arial"/>
              </a:rPr>
              <a:t>26,520</a:t>
            </a:r>
          </a:p>
        </p:txBody>
      </p:sp>
      <p:sp>
        <p:nvSpPr>
          <p:cNvPr id="13" name="model-scale-label">
            <a:extLst xmlns:a="http://schemas.openxmlformats.org/drawingml/2006/main">
              <a:ext uri="{FF2B5EF4-FFF2-40B4-BE49-F238E27FC236}">
                <a16:creationId xmlns:a16="http://schemas.microsoft.com/office/drawing/2014/main" id="{B3D7183E-3FBD-4ED6-B6D2-12EED6D5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5661600"/>
            <a:ext cx="420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defPPr>
            <a:lvl1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1pPr>
            <a:lvl2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2pPr>
            <a:lvl3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3pPr>
            <a:lvl4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4pPr>
            <a:lvl5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5pPr>
            <a:lvl6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6pPr>
            <a:lvl7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7pPr>
            <a:lvl8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8pPr>
            <a:lvl9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MITC4 bending/shear plate elements</a:t>
            </a:r>
          </a:p>
        </p:txBody>
      </p:sp>
      <p:sp>
        <p:nvSpPr>
          <p:cNvPr id="14" name="model-details">
            <a:extLst xmlns:a="http://schemas.openxmlformats.org/drawingml/2006/main">
              <a:ext uri="{FF2B5EF4-FFF2-40B4-BE49-F238E27FC236}">
                <a16:creationId xmlns:a16="http://schemas.microsoft.com/office/drawing/2014/main" id="{EE5B64F6-1FF5-47D3-B392-F3F16082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6123600"/>
            <a:ext cx="4200000" cy="8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Coupled steel beams and vertical supports</a:t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Approximately 79,600 algebraic coordinates</a:t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Linear equivalent model in MATLAB</a:t>
            </a:r>
          </a:p>
        </p:txBody>
      </p:sp>
      <p:sp>
        <p:nvSpPr>
          <p:cNvPr id="15" name="design">
            <a:extLst xmlns:a="http://schemas.openxmlformats.org/drawingml/2006/main">
              <a:ext uri="{FF2B5EF4-FFF2-40B4-BE49-F238E27FC236}">
                <a16:creationId xmlns:a16="http://schemas.microsoft.com/office/drawing/2014/main" id="{E06B9038-7BC6-40EC-A8ED-8379B8DE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7224000"/>
            <a:ext cx="4200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Study 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0EBCC2-9E01-4D76-BEB8-7E78E503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7627200"/>
            <a:ext cx="4200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17" name="design-body">
            <a:extLst xmlns:a="http://schemas.openxmlformats.org/drawingml/2006/main">
              <a:ext uri="{FF2B5EF4-FFF2-40B4-BE49-F238E27FC236}">
                <a16:creationId xmlns:a16="http://schemas.microsoft.com/office/drawing/2014/main" id="{1EA2A0E0-902F-4F6C-92A4-D3B11DC5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7778400"/>
            <a:ext cx="4200000" cy="170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22 selected traffic scenarios use the same 240-vehicle fleet, including 20 heavy vehicles.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The comparison varies longitudinal spacing, lateral spread and vehicle ordering, with two-lane and grouped-traffic references.</a:t>
            </a:r>
          </a:p>
        </p:txBody>
      </p:sp>
      <p:sp>
        <p:nvSpPr>
          <p:cNvPr id="18" name="sampling">
            <a:extLst xmlns:a="http://schemas.openxmlformats.org/drawingml/2006/main">
              <a:ext uri="{FF2B5EF4-FFF2-40B4-BE49-F238E27FC236}">
                <a16:creationId xmlns:a16="http://schemas.microsoft.com/office/drawing/2014/main" id="{B38B3755-A0FB-4D00-8BA1-3ACECBFD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2503200"/>
            <a:ext cx="4662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Traffic comparison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D5CF10-FEF3-42F0-A18B-E185A687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2906400"/>
            <a:ext cx="466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20" name="sampling-body">
            <a:extLst xmlns:a="http://schemas.openxmlformats.org/drawingml/2006/main">
              <a:ext uri="{FF2B5EF4-FFF2-40B4-BE49-F238E27FC236}">
                <a16:creationId xmlns:a16="http://schemas.microsoft.com/office/drawing/2014/main" id="{9F8B505E-534A-4AB2-A55F-A80F9751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3040800"/>
            <a:ext cx="466200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At d = 40 m, the fleet and passage duration match across the displayed protocols. Ratios compare maximum fixed-channel indices to two-lane traffic.</a:t>
            </a:r>
          </a:p>
        </p:txBody>
      </p:sp>
      <p:sp>
        <p:nvSpPr>
          <p:cNvPr id="21" name="sampling-chart-label">
            <a:extLst xmlns:a="http://schemas.openxmlformats.org/drawingml/2006/main">
              <a:ext uri="{FF2B5EF4-FFF2-40B4-BE49-F238E27FC236}">
                <a16:creationId xmlns:a16="http://schemas.microsoft.com/office/drawing/2014/main" id="{86EB8EC9-22AC-4F49-A52B-70292084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4200000"/>
            <a:ext cx="4662000" cy="42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defPPr>
            <a:lvl1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1pPr>
            <a:lvl2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2pPr>
            <a:lvl3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3pPr>
            <a:lvl4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4pPr>
            <a:lvl5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5pPr>
            <a:lvl6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6pPr>
            <a:lvl7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7pPr>
            <a:lvl8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8pPr>
            <a:lvl9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pPr>
            <a:r>
              <a:rPr sz="1455" b="1">
                <a:solidFill>
                  <a:srgbClr val="132B40"/>
                </a:solidFill>
                <a:latin typeface="Arial"/>
                <a:ea typeface="Arial"/>
                <a:cs typeface="Arial"/>
              </a:rPr>
              <a:t>Relative cumulative index (two-lane = 1)</a:t>
            </a:r>
          </a:p>
        </p:txBody>
      </p:sp>
      <p:sp>
        <p:nvSpPr>
          <p:cNvPr id="22" name="sampling-caption">
            <a:extLst xmlns:a="http://schemas.openxmlformats.org/drawingml/2006/main">
              <a:ext uri="{FF2B5EF4-FFF2-40B4-BE49-F238E27FC236}">
                <a16:creationId xmlns:a16="http://schemas.microsoft.com/office/drawing/2014/main" id="{FB1EC97E-9E82-4566-9511-EFE266AF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7501200"/>
            <a:ext cx="4662000" cy="7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defPPr>
            <a:lvl1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1pPr>
            <a:lvl2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2pPr>
            <a:lvl3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3pPr>
            <a:lvl4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4pPr>
            <a:lvl5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5pPr>
            <a:lvl6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6pPr>
            <a:lvl7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7pPr>
            <a:lvl8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8pPr>
            <a:lvl9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389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Spread cases use uniform vehicle ordering. The maxima refer to fixed probes and may occur at different locations. Grouping changes the overall traffic organization.</a:t>
            </a:r>
          </a:p>
        </p:txBody>
      </p:sp>
      <p:sp>
        <p:nvSpPr>
          <p:cNvPr id="23" name="takeaway">
            <a:extLst xmlns:a="http://schemas.openxmlformats.org/drawingml/2006/main">
              <a:ext uri="{FF2B5EF4-FFF2-40B4-BE49-F238E27FC236}">
                <a16:creationId xmlns:a16="http://schemas.microsoft.com/office/drawing/2014/main" id="{C7FB0A21-D2F4-44CA-9491-DB674C48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8484000"/>
            <a:ext cx="4662000" cy="55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73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95.53%</a:t>
            </a:r>
          </a:p>
        </p:txBody>
      </p:sp>
      <p:sp>
        <p:nvSpPr>
          <p:cNvPr id="24" name="takeaway-description">
            <a:extLst xmlns:a="http://schemas.openxmlformats.org/drawingml/2006/main">
              <a:ext uri="{FF2B5EF4-FFF2-40B4-BE49-F238E27FC236}">
                <a16:creationId xmlns:a16="http://schemas.microsoft.com/office/drawing/2014/main" id="{567776C1-DF88-4DA8-9986-A98502D3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9080400"/>
            <a:ext cx="4662000" cy="68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defPPr>
            <a:lvl1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1pPr>
            <a:lvl2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2pPr>
            <a:lvl3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3pPr>
            <a:lvl4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4pPr>
            <a:lvl5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5pPr>
            <a:lvl6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6pPr>
            <a:lvl7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7pPr>
            <a:lvl8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8pPr>
            <a:lvl9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132B40"/>
                </a:solidFill>
                <a:latin typeface="Arial"/>
                <a:ea typeface="Arial"/>
                <a:cs typeface="Arial"/>
              </a:rPr>
              <a:t>Minimum peak-range coverage across all 22 traffic scenarios, using both normal-stress directions.</a:t>
            </a:r>
          </a:p>
        </p:txBody>
      </p:sp>
      <p:sp>
        <p:nvSpPr>
          <p:cNvPr id="25" name="evidence">
            <a:extLst xmlns:a="http://schemas.openxmlformats.org/drawingml/2006/main">
              <a:ext uri="{FF2B5EF4-FFF2-40B4-BE49-F238E27FC236}">
                <a16:creationId xmlns:a16="http://schemas.microsoft.com/office/drawing/2014/main" id="{6B5AE229-DD0A-41F5-97E8-DF5CC5AE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2503200"/>
            <a:ext cx="4242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Response coverage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53A422-00A6-45CE-9EA0-A96FAD67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2906400"/>
            <a:ext cx="424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27" name="evidence-body">
            <a:extLst xmlns:a="http://schemas.openxmlformats.org/drawingml/2006/main">
              <a:ext uri="{FF2B5EF4-FFF2-40B4-BE49-F238E27FC236}">
                <a16:creationId xmlns:a16="http://schemas.microsoft.com/office/drawing/2014/main" id="{D3E81341-9596-45FB-9CEC-1A5DB3D4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3040800"/>
            <a:ext cx="4242000" cy="172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Coverage compares the largest saved rainflow range with the interior plate-field temporal range. The lower longitudinal/transverse ratio defines each case.</a:t>
            </a:r>
          </a:p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All 22 cases reach at least 95.53%.</a:t>
            </a:r>
          </a:p>
        </p:txBody>
      </p:sp>
      <p:sp>
        <p:nvSpPr>
          <p:cNvPr id="28" name="section">
            <a:extLst xmlns:a="http://schemas.openxmlformats.org/drawingml/2006/main">
              <a:ext uri="{FF2B5EF4-FFF2-40B4-BE49-F238E27FC236}">
                <a16:creationId xmlns:a16="http://schemas.microsoft.com/office/drawing/2014/main" id="{4A5E719C-06BA-41DC-8D99-4A097650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5023200"/>
            <a:ext cx="4242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Section recovery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6B0DED-AA44-4E04-A54C-5BBC37A1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5426400"/>
            <a:ext cx="424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30" name="section-body">
            <a:extLst xmlns:a="http://schemas.openxmlformats.org/drawingml/2006/main">
              <a:ext uri="{FF2B5EF4-FFF2-40B4-BE49-F238E27FC236}">
                <a16:creationId xmlns:a16="http://schemas.microsoft.com/office/drawing/2014/main" id="{1D07F996-2BAB-448C-8851-4F45D17A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5577600"/>
            <a:ext cx="4242000" cy="160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Nominal reinforcement sections cover the saved observation coordinates.</a:t>
            </a:r>
          </a:p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952 section variants and 3,808 independent unit-resultant checks give a maximum residual of 1.1 × 10⁻¹⁴.</a:t>
            </a:r>
          </a:p>
        </p:txBody>
      </p:sp>
      <p:sp>
        <p:nvSpPr>
          <p:cNvPr id="31" name="interpretation">
            <a:extLst xmlns:a="http://schemas.openxmlformats.org/drawingml/2006/main">
              <a:ext uri="{FF2B5EF4-FFF2-40B4-BE49-F238E27FC236}">
                <a16:creationId xmlns:a16="http://schemas.microsoft.com/office/drawing/2014/main" id="{89E46074-24F0-4BC0-9D95-2FC759DE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7425600"/>
            <a:ext cx="4242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09BBA3-1751-422C-96D4-FEE2A75E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7828800"/>
            <a:ext cx="424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33" name="interpretation-body">
            <a:extLst xmlns:a="http://schemas.openxmlformats.org/drawingml/2006/main">
              <a:ext uri="{FF2B5EF4-FFF2-40B4-BE49-F238E27FC236}">
                <a16:creationId xmlns:a16="http://schemas.microsoft.com/office/drawing/2014/main" id="{ED54C741-D5B2-4CA0-A8B6-29C1370E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7980000"/>
            <a:ext cx="4242000" cy="173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Rₘ = max Iₘ(case) / max Iₘ(reference)</a:t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t>Iₘ = Σ nᵢ (Δσᵢ / 1 MPa)ᵐ</a:t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The indices screen nominal stress cycles. Peak-range coverage does not prove cumulative-index convergence. Experimental validation and material fatigue calibration remain open.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A1EE30-C72D-4166-8504-9683C2F2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9996000"/>
            <a:ext cx="1411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35" name="ownership">
            <a:extLst xmlns:a="http://schemas.openxmlformats.org/drawingml/2006/main">
              <a:ext uri="{FF2B5EF4-FFF2-40B4-BE49-F238E27FC236}">
                <a16:creationId xmlns:a16="http://schemas.microsoft.com/office/drawing/2014/main" id="{D373DE15-49A1-4483-BE67-F96C4C1C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10180800"/>
            <a:ext cx="14112000" cy="26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25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Individual work: model reconstruction, implementation, verification, simulation review and documentation. Professor Kai-Chun Chang supplied the bridge drawings.</a:t>
            </a:r>
          </a:p>
        </p:txBody>
      </p:sp>
      <p:sp>
        <p:nvSpPr>
          <p:cNvPr id="36" name="scope">
            <a:extLst xmlns:a="http://schemas.openxmlformats.org/drawingml/2006/main">
              <a:ext uri="{FF2B5EF4-FFF2-40B4-BE49-F238E27FC236}">
                <a16:creationId xmlns:a16="http://schemas.microsoft.com/office/drawing/2014/main" id="{05499B93-A2C8-4629-BA3B-08488554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10458000"/>
            <a:ext cx="14112000" cy="21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defPPr>
            <a:lvl1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1pPr>
            <a:lvl2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2pPr>
            <a:lvl3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3pPr>
            <a:lvl4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4pPr>
            <a:lvl5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5pPr>
            <a:lvl6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6pPr>
            <a:lvl7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7pPr>
            <a:lvl8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8pPr>
            <a:lvl9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191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Preliminary numerical case study. Private framework and source drawings excluded. Experimental validation and absolute fatigue life remain open.</a:t>
            </a:r>
          </a:p>
        </p:txBody>
      </p:sp>
      <p:graphicFrame>
        <p:nvGraphicFramePr>
          <p:cNvPr id="37" name="Chart">
            <a:extLst xmlns:a="http://schemas.openxmlformats.org/drawingml/2006/main">
              <a:ext uri="{FF2B5EF4-FFF2-40B4-BE49-F238E27FC236}">
                <a16:creationId xmlns:a16="http://schemas.microsoft.com/office/drawing/2014/main" id="{3EE9DB1C-635A-484F-9A4D-68FB20B60426}"/>
              </a:ext>
            </a:extLst>
          </p:cNvPr>
          <p:cNvGraphicFramePr/>
          <p:nvPr/>
        </p:nvGraphicFramePr>
        <p:xfrm>
          <a:off xmlns:a="http://schemas.openxmlformats.org/drawingml/2006/main" x="5166000" y="4645200"/>
          <a:ext xmlns:a="http://schemas.openxmlformats.org/drawingml/2006/main" cx="4746000" cy="268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7ec474c433430b"/>
          </a:graphicData>
        </a:graphic>
      </p:graphicFrame>
    </p:spTree>
    <p:extLst>
      <p:ext uri="{BB962C8B-B14F-4D97-AF65-F5344CB8AC3E}">
        <p14:creationId xmlns:p14="http://schemas.microsoft.com/office/powerpoint/2010/main" val="15939346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2026-10-27T02:05:14.0120000Z</dcterms:created>
  <dcterms:modified xsi:type="dcterms:W3CDTF">2026-10-27T02:05:14.0120000Z</dcterms:modified>
</coreProperties>
</file>